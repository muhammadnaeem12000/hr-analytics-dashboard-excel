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6726063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7" y="4243845"/>
            <a:ext cx="2307831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6726064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833787" y="2590078"/>
            <a:ext cx="2307832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2" y="2733709"/>
            <a:ext cx="6069268" cy="1373070"/>
          </a:xfrm>
        </p:spPr>
        <p:txBody>
          <a:bodyPr anchor="b">
            <a:noAutofit/>
          </a:bodyPr>
          <a:lstStyle>
            <a:lvl1pPr algn="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1" y="4394040"/>
            <a:ext cx="6108101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55655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1" y="5936189"/>
            <a:ext cx="402166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399" y="2750337"/>
            <a:ext cx="1370293" cy="1356442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913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8" name="Picture 2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9" name="Picture 2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0" name="Rectangle 2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Rectangle 3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714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2728432"/>
            <a:ext cx="9161969" cy="1677035"/>
            <a:chOff x="0" y="2895600"/>
            <a:chExt cx="9161969" cy="1677035"/>
          </a:xfrm>
        </p:grpSpPr>
        <p:pic>
          <p:nvPicPr>
            <p:cNvPr id="19" name="Picture 1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0" name="Picture 1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2869895"/>
            <a:ext cx="688915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1639" y="4232172"/>
            <a:ext cx="688915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65810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0" y="5936189"/>
            <a:ext cx="483467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6438" y="286989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696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753228"/>
            <a:ext cx="688739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2336873"/>
            <a:ext cx="3357899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61128" y="2336873"/>
            <a:ext cx="3359661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769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9" name="Picture 2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0" name="Picture 2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1" name="Rectangle 3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Rectangle 3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30"/>
            <a:ext cx="6896534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0988" y="2336874"/>
            <a:ext cx="3145080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1638" y="3030009"/>
            <a:ext cx="336704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82646" y="2336873"/>
            <a:ext cx="3145527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61129" y="3030009"/>
            <a:ext cx="3367044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097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6" name="Picture 15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7" name="Picture 16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8" name="Rectangle 17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133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HD-ShadowShort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71"/>
          <a:stretch/>
        </p:blipFill>
        <p:spPr>
          <a:xfrm>
            <a:off x="7717217" y="1973262"/>
            <a:ext cx="1444752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710769" y="609600"/>
            <a:ext cx="1433231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881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7"/>
            <a:ext cx="6896534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2336874"/>
            <a:ext cx="3913788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2336873"/>
            <a:ext cx="2796240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102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10956" y="2336874"/>
            <a:ext cx="3917217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2336874"/>
            <a:ext cx="2798487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047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3" y="4711617"/>
            <a:ext cx="6894770" cy="544482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1639" y="609598"/>
            <a:ext cx="6896534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5256098"/>
            <a:ext cx="6894772" cy="54781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310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904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2" name="Picture 21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3" name="Picture 22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4" name="Rectangle 23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55" y="609597"/>
            <a:ext cx="6896534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889151" cy="1101764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61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2969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30" name="Picture 29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1" name="Picture 30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2" name="Rectangle 31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921" y="616983"/>
            <a:ext cx="642514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89438" y="3660763"/>
            <a:ext cx="5987731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903919" cy="1101764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270932" y="748116"/>
            <a:ext cx="5334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191" y="2998573"/>
            <a:ext cx="457200" cy="5847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244136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3" name="Picture 22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4" name="Picture 23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5" name="Rectangle 24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8" y="4710340"/>
            <a:ext cx="6896534" cy="5898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9" y="5300150"/>
            <a:ext cx="6896534" cy="51195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9649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32629" y="2329489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39777" y="3015290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8413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879710" y="3007906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26136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233520" y="3007905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9287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35" name="Picture 34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6" name="Picture 35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7" name="Rectangle 36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Rectangle 37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32391" y="4297503"/>
            <a:ext cx="21922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32391" y="2336873"/>
            <a:ext cx="2192257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32391" y="4873765"/>
            <a:ext cx="219225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0497" y="4297503"/>
            <a:ext cx="221507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870497" y="2336873"/>
            <a:ext cx="221507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869483" y="4873764"/>
            <a:ext cx="2218004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31028" y="4297503"/>
            <a:ext cx="219433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231027" y="2336873"/>
            <a:ext cx="2194333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230934" y="4873762"/>
            <a:ext cx="2197239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3862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7" name="Picture 16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8" name="Picture 17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9" name="Rectangle 18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3931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 bwMode="ltGray">
          <a:xfrm rot="5400000">
            <a:off x="4575305" y="2747178"/>
            <a:ext cx="6862555" cy="1368199"/>
            <a:chOff x="2281445" y="609600"/>
            <a:chExt cx="6862555" cy="1368199"/>
          </a:xfrm>
        </p:grpSpPr>
        <p:sp>
          <p:nvSpPr>
            <p:cNvPr id="12" name="Rectangle 11"/>
            <p:cNvSpPr/>
            <p:nvPr/>
          </p:nvSpPr>
          <p:spPr bwMode="ltGray">
            <a:xfrm>
              <a:off x="2281445" y="609601"/>
              <a:ext cx="5285695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7710769" y="609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64798" y="609597"/>
            <a:ext cx="1069602" cy="446193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609598"/>
            <a:ext cx="6576359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9144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5936189"/>
            <a:ext cx="451895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31152" y="5432500"/>
            <a:ext cx="1149636" cy="1273100"/>
          </a:xfrm>
        </p:spPr>
        <p:txBody>
          <a:bodyPr anchor="t"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432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James\Desktop\msft\Berlin\build Assets\hashOverlaySD-FullResolve.png"/>
          <p:cNvPicPr>
            <a:picLocks noChangeAspect="1" noChangeArrowheads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6858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2336873"/>
            <a:ext cx="6887389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5936189"/>
            <a:ext cx="48346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5343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4" r:id="rId1"/>
    <p:sldLayoutId id="2147483815" r:id="rId2"/>
    <p:sldLayoutId id="2147483816" r:id="rId3"/>
    <p:sldLayoutId id="2147483817" r:id="rId4"/>
    <p:sldLayoutId id="2147483818" r:id="rId5"/>
    <p:sldLayoutId id="2147483819" r:id="rId6"/>
    <p:sldLayoutId id="2147483820" r:id="rId7"/>
    <p:sldLayoutId id="2147483821" r:id="rId8"/>
    <p:sldLayoutId id="2147483822" r:id="rId9"/>
    <p:sldLayoutId id="2147483823" r:id="rId10"/>
    <p:sldLayoutId id="2147483824" r:id="rId11"/>
    <p:sldLayoutId id="2147483825" r:id="rId12"/>
    <p:sldLayoutId id="2147483826" r:id="rId13"/>
    <p:sldLayoutId id="2147483827" r:id="rId14"/>
    <p:sldLayoutId id="2147483828" r:id="rId15"/>
    <p:sldLayoutId id="2147483829" r:id="rId16"/>
    <p:sldLayoutId id="2147483830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HR Attrition Analysis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Presented by: Muhammad Naeem</a:t>
            </a:r>
          </a:p>
          <a:p>
            <a:pPr>
              <a:defRPr sz="2200"/>
            </a:pPr>
            <a:endParaRPr/>
          </a:p>
          <a:p>
            <a:pPr>
              <a:defRPr sz="2200"/>
            </a:pPr>
            <a:r>
              <a:t>Interactive HR Analytics using Microsoft Excel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Analyze employee attrition.</a:t>
            </a:r>
          </a:p>
          <a:p>
            <a:pPr>
              <a:defRPr sz="2200"/>
            </a:pPr>
            <a:r>
              <a:t>• Identify key factors affecting turnover.</a:t>
            </a:r>
          </a:p>
          <a:p>
            <a:pPr>
              <a:defRPr sz="2200"/>
            </a:pPr>
            <a:r>
              <a:t>• Build an interactive Excel dashboard.</a:t>
            </a:r>
          </a:p>
          <a:p>
            <a:pPr>
              <a:defRPr sz="2200"/>
            </a:pPr>
            <a:r>
              <a:t>• Provide actionable business recommendations.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Total Employees: 2,925</a:t>
            </a:r>
          </a:p>
          <a:p>
            <a:pPr>
              <a:defRPr sz="2200"/>
            </a:pPr>
            <a:r>
              <a:t>• Attritions: 492</a:t>
            </a:r>
          </a:p>
          <a:p>
            <a:pPr>
              <a:defRPr sz="2200"/>
            </a:pPr>
            <a:r>
              <a:t>• Active Employees: 2,433</a:t>
            </a:r>
          </a:p>
          <a:p>
            <a:pPr>
              <a:defRPr sz="2200"/>
            </a:pPr>
            <a:r>
              <a:t>• Attrition Rate: 16.82%</a:t>
            </a:r>
          </a:p>
          <a:p>
            <a:pPr>
              <a:defRPr sz="2200"/>
            </a:pPr>
            <a:r>
              <a:t>• Average Monthly Income: $6,514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 sz="2200"/>
            </a:pPr>
            <a:r>
              <a:t>Raw Data</a:t>
            </a:r>
          </a:p>
          <a:p>
            <a:pPr>
              <a:defRPr sz="2200"/>
            </a:pPr>
            <a:r>
              <a:t>↓</a:t>
            </a:r>
          </a:p>
          <a:p>
            <a:pPr>
              <a:defRPr sz="2200"/>
            </a:pPr>
            <a:r>
              <a:t>Data Cleaning</a:t>
            </a:r>
          </a:p>
          <a:p>
            <a:pPr>
              <a:defRPr sz="2200"/>
            </a:pPr>
            <a:r>
              <a:t>↓</a:t>
            </a:r>
          </a:p>
          <a:p>
            <a:pPr>
              <a:defRPr sz="2200"/>
            </a:pPr>
            <a:r>
              <a:t>Pivot Tables</a:t>
            </a:r>
          </a:p>
          <a:p>
            <a:pPr>
              <a:defRPr sz="2200"/>
            </a:pPr>
            <a:r>
              <a:t>↓</a:t>
            </a:r>
          </a:p>
          <a:p>
            <a:pPr>
              <a:defRPr sz="2200"/>
            </a:pPr>
            <a:r>
              <a:t>KPIs</a:t>
            </a:r>
          </a:p>
          <a:p>
            <a:pPr>
              <a:defRPr sz="2200"/>
            </a:pPr>
            <a:r>
              <a:t>↓</a:t>
            </a:r>
          </a:p>
          <a:p>
            <a:pPr>
              <a:defRPr sz="2200"/>
            </a:pPr>
            <a:r>
              <a:t>Dashboard</a:t>
            </a:r>
          </a:p>
          <a:p>
            <a:pPr>
              <a:defRPr sz="2200"/>
            </a:pPr>
            <a:r>
              <a:t>↓</a:t>
            </a:r>
          </a:p>
          <a:p>
            <a:pPr>
              <a:defRPr sz="2200"/>
            </a:pPr>
            <a:r>
              <a:t>Insights &amp; Recommendations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200"/>
            </a:pPr>
            <a:r>
              <a:t>• KPI Cards</a:t>
            </a:r>
          </a:p>
          <a:p>
            <a:pPr>
              <a:defRPr sz="2200"/>
            </a:pPr>
            <a:r>
              <a:t>• Department Analysis</a:t>
            </a:r>
          </a:p>
          <a:p>
            <a:pPr>
              <a:defRPr sz="2200"/>
            </a:pPr>
            <a:r>
              <a:t>• Job Role Analysis</a:t>
            </a:r>
          </a:p>
          <a:p>
            <a:pPr>
              <a:defRPr sz="2200"/>
            </a:pPr>
            <a:r>
              <a:t>• Gender Distribution</a:t>
            </a:r>
          </a:p>
          <a:p>
            <a:pPr>
              <a:defRPr sz="2200"/>
            </a:pPr>
            <a:r>
              <a:t>• Overtime Analysis</a:t>
            </a:r>
          </a:p>
          <a:p>
            <a:pPr>
              <a:defRPr sz="2200"/>
            </a:pPr>
            <a:r>
              <a:t>• Business Travel</a:t>
            </a:r>
          </a:p>
          <a:p>
            <a:pPr>
              <a:defRPr sz="2200"/>
            </a:pPr>
            <a:r>
              <a:t>• Education &amp; Age Analysis</a:t>
            </a:r>
          </a:p>
          <a:p>
            <a:pPr>
              <a:defRPr sz="2200"/>
            </a:pPr>
            <a:r>
              <a:t>• Interactive Slicers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Higher attrition in Sales.</a:t>
            </a:r>
          </a:p>
          <a:p>
            <a:pPr>
              <a:defRPr sz="2200"/>
            </a:pPr>
            <a:r>
              <a:t>• Overtime is linked with higher attrition.</a:t>
            </a:r>
          </a:p>
          <a:p>
            <a:pPr>
              <a:defRPr sz="2200"/>
            </a:pPr>
            <a:r>
              <a:t>• Early-tenure employees are more likely to leave.</a:t>
            </a:r>
          </a:p>
          <a:p>
            <a:pPr>
              <a:defRPr sz="2200"/>
            </a:pPr>
            <a:r>
              <a:t>• Some job roles show consistently higher turnover.</a:t>
            </a:r>
          </a:p>
          <a:p>
            <a:pPr>
              <a:defRPr sz="2200"/>
            </a:pPr>
            <a:r>
              <a:t>• Business travel may contribute to attrition.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Reduce overtime.</a:t>
            </a:r>
          </a:p>
          <a:p>
            <a:pPr>
              <a:defRPr sz="2200"/>
            </a:pPr>
            <a:r>
              <a:t>• Improve onboarding.</a:t>
            </a:r>
          </a:p>
          <a:p>
            <a:pPr>
              <a:defRPr sz="2200"/>
            </a:pPr>
            <a:r>
              <a:t>• Enhance career development.</a:t>
            </a:r>
          </a:p>
          <a:p>
            <a:pPr>
              <a:defRPr sz="2200"/>
            </a:pPr>
            <a:r>
              <a:t>• Review compensation.</a:t>
            </a:r>
          </a:p>
          <a:p>
            <a:pPr>
              <a:defRPr sz="2200"/>
            </a:pPr>
            <a:r>
              <a:t>• Increase employee engagement.</a:t>
            </a:r>
          </a:p>
          <a:p>
            <a:pPr>
              <a:defRPr sz="2200"/>
            </a:pPr>
            <a:r>
              <a:t>• Monitor high-risk departments.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Attrition?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Attrition is the reduction in workforce when employees leave an organization.</a:t>
            </a:r>
          </a:p>
          <a:p>
            <a:pPr>
              <a:defRPr sz="2200"/>
            </a:pPr>
            <a:endParaRPr/>
          </a:p>
          <a:p>
            <a:pPr>
              <a:defRPr sz="2200"/>
            </a:pPr>
            <a:r>
              <a:t>Formula:</a:t>
            </a:r>
          </a:p>
          <a:p>
            <a:pPr>
              <a:defRPr sz="2200"/>
            </a:pPr>
            <a:r>
              <a:t>Attrition Rate = (Employees Left ÷ Total Employees) × 100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HR analytics supports better business decisions.</a:t>
            </a:r>
          </a:p>
          <a:p>
            <a:pPr>
              <a:defRPr sz="2200"/>
            </a:pPr>
            <a:r>
              <a:t>• The dashboard provides interactive insights for management.</a:t>
            </a:r>
          </a:p>
          <a:p>
            <a:pPr>
              <a:defRPr sz="2200"/>
            </a:pPr>
            <a:endParaRPr/>
          </a:p>
          <a:p>
            <a:pPr>
              <a:defRPr sz="2200"/>
            </a:pPr>
            <a:r>
              <a:t>Thank You!</a:t>
            </a:r>
          </a:p>
          <a:p>
            <a:pPr>
              <a:defRPr sz="2200"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6A9C41"/>
      </a:dk2>
      <a:lt2>
        <a:srgbClr val="E7E6E6"/>
      </a:lt2>
      <a:accent1>
        <a:srgbClr val="A7D535"/>
      </a:accent1>
      <a:accent2>
        <a:srgbClr val="EACA4F"/>
      </a:accent2>
      <a:accent3>
        <a:srgbClr val="FD9850"/>
      </a:accent3>
      <a:accent4>
        <a:srgbClr val="F46442"/>
      </a:accent4>
      <a:accent5>
        <a:srgbClr val="54D289"/>
      </a:accent5>
      <a:accent6>
        <a:srgbClr val="6AD8CB"/>
      </a:accent6>
      <a:hlink>
        <a:srgbClr val="CAFB50"/>
      </a:hlink>
      <a:folHlink>
        <a:srgbClr val="DEFF8B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3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06000"/>
                <a:satMod val="120000"/>
                <a:lumMod val="7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B587E4A9-1405-4B4F-8BC3-512EE08D2EB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3</TotalTime>
  <Words>240</Words>
  <Application>Microsoft Office PowerPoint</Application>
  <PresentationFormat>On-screen Show (4:3)</PresentationFormat>
  <Paragraphs>60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Trebuchet MS</vt:lpstr>
      <vt:lpstr>Berlin</vt:lpstr>
      <vt:lpstr>HR Attrition Analysis Dashboard</vt:lpstr>
      <vt:lpstr>Project Objective</vt:lpstr>
      <vt:lpstr>Dataset Overview</vt:lpstr>
      <vt:lpstr>Workflow</vt:lpstr>
      <vt:lpstr>Dashboard Components</vt:lpstr>
      <vt:lpstr>Key Insights</vt:lpstr>
      <vt:lpstr>Recommendations</vt:lpstr>
      <vt:lpstr>What is Attrition?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Decent</cp:lastModifiedBy>
  <cp:revision>2</cp:revision>
  <dcterms:created xsi:type="dcterms:W3CDTF">2013-01-27T09:14:16Z</dcterms:created>
  <dcterms:modified xsi:type="dcterms:W3CDTF">2026-07-05T17:35:06Z</dcterms:modified>
  <cp:category/>
</cp:coreProperties>
</file>